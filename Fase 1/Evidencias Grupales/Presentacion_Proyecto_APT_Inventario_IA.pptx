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Plus Jakarta Sans ExtraBold"/>
      <p:bold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Plus Jakarta Sans SemiBold"/>
      <p:regular r:id="rId31"/>
      <p:bold r:id="rId32"/>
      <p:italic r:id="rId33"/>
      <p:boldItalic r:id="rId34"/>
    </p:embeddedFont>
    <p:embeddedFont>
      <p:font typeface="Comfortaa"/>
      <p:regular r:id="rId35"/>
      <p:bold r:id="rId36"/>
    </p:embeddedFont>
    <p:embeddedFont>
      <p:font typeface="Space Grotesk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c+FdrhNj30ewYyRXf1SlAUeEf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F2AD37-5337-425B-B451-3FAE8FC15B2D}">
  <a:tblStyle styleId="{98F2AD37-5337-425B-B451-3FAE8FC15B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ExtraBold-boldItalic.fntdata"/><Relationship Id="rId25" Type="http://schemas.openxmlformats.org/officeDocument/2006/relationships/font" Target="fonts/PlusJakartaSansExtraBold-bold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regular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Comfortaa-regular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SpaceGrotesk-regular.fntdata"/><Relationship Id="rId14" Type="http://schemas.openxmlformats.org/officeDocument/2006/relationships/slide" Target="slides/slide8.xml"/><Relationship Id="rId36" Type="http://schemas.openxmlformats.org/officeDocument/2006/relationships/font" Target="fonts/Comfortaa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SpaceGrotesk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38afe8e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838afe8e0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838afe8e0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838afe8e0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838afe8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838afe8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5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8.png"/><Relationship Id="rId13" Type="http://schemas.openxmlformats.org/officeDocument/2006/relationships/image" Target="../media/image18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5" Type="http://schemas.openxmlformats.org/officeDocument/2006/relationships/image" Target="../media/image24.png"/><Relationship Id="rId1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4.png"/><Relationship Id="rId7" Type="http://schemas.openxmlformats.org/officeDocument/2006/relationships/image" Target="../media/image34.png"/><Relationship Id="rId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.png"/><Relationship Id="rId13" Type="http://schemas.openxmlformats.org/officeDocument/2006/relationships/image" Target="../media/image42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6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52.pn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5" Type="http://schemas.openxmlformats.org/officeDocument/2006/relationships/image" Target="../media/image66.png"/><Relationship Id="rId6" Type="http://schemas.openxmlformats.org/officeDocument/2006/relationships/image" Target="../media/image4.png"/><Relationship Id="rId7" Type="http://schemas.openxmlformats.org/officeDocument/2006/relationships/image" Target="../media/image63.png"/><Relationship Id="rId8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68.png"/><Relationship Id="rId13" Type="http://schemas.openxmlformats.org/officeDocument/2006/relationships/image" Target="../media/image67.pn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Relationship Id="rId7" Type="http://schemas.openxmlformats.org/officeDocument/2006/relationships/image" Target="../media/image72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1.png"/><Relationship Id="rId4" Type="http://schemas.openxmlformats.org/officeDocument/2006/relationships/image" Target="../media/image80.png"/><Relationship Id="rId9" Type="http://schemas.openxmlformats.org/officeDocument/2006/relationships/image" Target="../media/image81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Relationship Id="rId7" Type="http://schemas.openxmlformats.org/officeDocument/2006/relationships/image" Target="../media/image4.png"/><Relationship Id="rId8" Type="http://schemas.openxmlformats.org/officeDocument/2006/relationships/image" Target="../media/image7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4.png"/><Relationship Id="rId7" Type="http://schemas.openxmlformats.org/officeDocument/2006/relationships/image" Target="../media/image82.png"/><Relationship Id="rId8" Type="http://schemas.openxmlformats.org/officeDocument/2006/relationships/image" Target="../media/image85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88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4.png"/><Relationship Id="rId4" Type="http://schemas.openxmlformats.org/officeDocument/2006/relationships/image" Target="../media/image84.png"/><Relationship Id="rId9" Type="http://schemas.openxmlformats.org/officeDocument/2006/relationships/image" Target="../media/image93.png"/><Relationship Id="rId5" Type="http://schemas.openxmlformats.org/officeDocument/2006/relationships/image" Target="../media/image90.png"/><Relationship Id="rId6" Type="http://schemas.openxmlformats.org/officeDocument/2006/relationships/image" Target="../media/image92.png"/><Relationship Id="rId7" Type="http://schemas.openxmlformats.org/officeDocument/2006/relationships/image" Target="../media/image100.png"/><Relationship Id="rId8" Type="http://schemas.openxmlformats.org/officeDocument/2006/relationships/image" Target="../media/image8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5" Type="http://schemas.openxmlformats.org/officeDocument/2006/relationships/image" Target="../media/image96.png"/><Relationship Id="rId6" Type="http://schemas.openxmlformats.org/officeDocument/2006/relationships/image" Target="../media/image99.png"/><Relationship Id="rId7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1.png"/><Relationship Id="rId10" Type="http://schemas.openxmlformats.org/officeDocument/2006/relationships/image" Target="../media/image102.png"/><Relationship Id="rId13" Type="http://schemas.openxmlformats.org/officeDocument/2006/relationships/image" Target="../media/image50.png"/><Relationship Id="rId1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5" Type="http://schemas.openxmlformats.org/officeDocument/2006/relationships/image" Target="../media/image91.png"/><Relationship Id="rId6" Type="http://schemas.openxmlformats.org/officeDocument/2006/relationships/image" Target="../media/image4.png"/><Relationship Id="rId7" Type="http://schemas.openxmlformats.org/officeDocument/2006/relationships/image" Target="../media/image34.png"/><Relationship Id="rId8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8.png"/><Relationship Id="rId4" Type="http://schemas.openxmlformats.org/officeDocument/2006/relationships/image" Target="../media/image105.png"/><Relationship Id="rId5" Type="http://schemas.openxmlformats.org/officeDocument/2006/relationships/image" Target="../media/image103.png"/><Relationship Id="rId6" Type="http://schemas.openxmlformats.org/officeDocument/2006/relationships/image" Target="../media/image106.png"/><Relationship Id="rId7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6.png"/><Relationship Id="rId1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4.png"/><Relationship Id="rId9" Type="http://schemas.openxmlformats.org/officeDocument/2006/relationships/image" Target="../media/image107.png"/><Relationship Id="rId5" Type="http://schemas.openxmlformats.org/officeDocument/2006/relationships/image" Target="../media/image4.png"/><Relationship Id="rId6" Type="http://schemas.openxmlformats.org/officeDocument/2006/relationships/image" Target="../media/image115.png"/><Relationship Id="rId7" Type="http://schemas.openxmlformats.org/officeDocument/2006/relationships/image" Target="../media/image111.png"/><Relationship Id="rId8" Type="http://schemas.openxmlformats.org/officeDocument/2006/relationships/image" Target="../media/image10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8.png"/><Relationship Id="rId4" Type="http://schemas.openxmlformats.org/officeDocument/2006/relationships/image" Target="../media/image110.png"/><Relationship Id="rId5" Type="http://schemas.openxmlformats.org/officeDocument/2006/relationships/image" Target="../media/image4.png"/><Relationship Id="rId6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165699"/>
            <a:ext cx="5476875" cy="919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096625" y="6543675"/>
            <a:ext cx="6191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 DE 18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76250" y="2239863"/>
            <a:ext cx="5750718" cy="96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Multidispositivo de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Gestión de Inventario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76250" y="3394174"/>
            <a:ext cx="54768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Asistente de IA por Voz y Actualización Automática de Precios mediante Web Scraping.</a:t>
            </a:r>
            <a:endParaRPr/>
          </a:p>
        </p:txBody>
      </p:sp>
      <p:pic>
        <p:nvPicPr>
          <p:cNvPr descr="image.png" id="91" name="Google Shape;9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428750"/>
            <a:ext cx="5476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1773138"/>
            <a:ext cx="26765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647700" y="4308574"/>
            <a:ext cx="5162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Carrera:</a:t>
            </a: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Ingeniería en Informática | Sede Viña del Mar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47700" y="4532411"/>
            <a:ext cx="5162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Integrantes:</a:t>
            </a: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Anette Villalón | Benjamín Camacho | Héctor Romero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47700" y="4756249"/>
            <a:ext cx="5162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Asignatura:</a:t>
            </a: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CAPSTONE-03 / Portafolio de Título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811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1843" y="11811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11811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13031" y="11811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24384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1843" y="24384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24384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13031" y="24384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36957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1843" y="36957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36957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13031" y="36957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9530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1843" y="49530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49530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13031" y="4953000"/>
            <a:ext cx="2702718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1068050" y="6543675"/>
            <a:ext cx="6477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2 DE 18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19125" y="13239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19125" y="17049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Contexto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19125" y="19812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Entorno del taller mecánico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3464718" y="13239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3464718" y="17049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3464718" y="19812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Ineficiencias manuales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310312" y="13239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310312" y="17049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Necesidad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310312" y="19812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 mejora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9155906" y="13239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9155906" y="17049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Solución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9155906" y="19812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Multidispositivo + IA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619125" y="25812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05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19125" y="29622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Requerimientos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619125" y="32385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Funcionales y No Funcionales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3464718" y="25812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06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3464718" y="29622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Épicas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3464718" y="32385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Bloques de desarrollo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310312" y="25812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07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310312" y="29622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310312" y="32385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del sistema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9155906" y="25812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08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9155906" y="29622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Metodología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9155906" y="32385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Marco Scrum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619125" y="38385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09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619125" y="42195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Roles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619125" y="44958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de trabajo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3464718" y="38385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10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3464718" y="42195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Evidencias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3464718" y="44958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Entregables del proyecto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6310312" y="38385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11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6310312" y="42195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Evidencias Sprint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6310312" y="44958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Trazabilidad por iteración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9155906" y="38385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12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9155906" y="42195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Historias Usuario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9155906" y="44958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Perspectivas de usuarios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619125" y="50958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13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619125" y="54768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Sprints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619125" y="57531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incremental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3464718" y="50958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14</a:t>
            </a:r>
            <a:endParaRPr/>
          </a:p>
        </p:txBody>
      </p:sp>
      <p:sp>
        <p:nvSpPr>
          <p:cNvPr id="160" name="Google Shape;160;p2"/>
          <p:cNvSpPr txBox="1"/>
          <p:nvPr/>
        </p:nvSpPr>
        <p:spPr>
          <a:xfrm>
            <a:off x="3464718" y="54768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Cronograma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3464718" y="57531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Carta Gantt del proyecto</a:t>
            </a:r>
            <a:endParaRPr/>
          </a:p>
        </p:txBody>
      </p:sp>
      <p:sp>
        <p:nvSpPr>
          <p:cNvPr id="162" name="Google Shape;162;p2"/>
          <p:cNvSpPr txBox="1"/>
          <p:nvPr/>
        </p:nvSpPr>
        <p:spPr>
          <a:xfrm>
            <a:off x="6310312" y="50958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15</a:t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6310312" y="54768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Conclusiones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6310312" y="57531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y próximos pasos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9155906" y="5095875"/>
            <a:ext cx="24169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16</a:t>
            </a:r>
            <a:endParaRPr/>
          </a:p>
        </p:txBody>
      </p:sp>
      <p:sp>
        <p:nvSpPr>
          <p:cNvPr id="166" name="Google Shape;166;p2"/>
          <p:cNvSpPr txBox="1"/>
          <p:nvPr/>
        </p:nvSpPr>
        <p:spPr>
          <a:xfrm>
            <a:off x="9155906" y="5476875"/>
            <a:ext cx="25378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Reflexión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9155906" y="5753100"/>
            <a:ext cx="241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Aprendizajes del equipo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Tabla de Contenidos</a:t>
            </a:r>
            <a:endParaRPr/>
          </a:p>
        </p:txBody>
      </p:sp>
      <p:sp>
        <p:nvSpPr>
          <p:cNvPr id="169" name="Google Shape;169;p2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750" y="923925"/>
            <a:ext cx="11256000" cy="16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750" y="2648725"/>
            <a:ext cx="11256000" cy="15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750" y="4422300"/>
            <a:ext cx="11256000" cy="14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"/>
          <p:cNvSpPr txBox="1"/>
          <p:nvPr/>
        </p:nvSpPr>
        <p:spPr>
          <a:xfrm>
            <a:off x="476250" y="6543700"/>
            <a:ext cx="2105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11068050" y="6543675"/>
            <a:ext cx="6477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3 DE 18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873500" y="1272269"/>
            <a:ext cx="5290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4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Lugar</a:t>
            </a:r>
            <a:endParaRPr sz="1700"/>
          </a:p>
        </p:txBody>
      </p:sp>
      <p:sp>
        <p:nvSpPr>
          <p:cNvPr id="180" name="Google Shape;180;p3"/>
          <p:cNvSpPr txBox="1"/>
          <p:nvPr/>
        </p:nvSpPr>
        <p:spPr>
          <a:xfrm>
            <a:off x="589950" y="1799463"/>
            <a:ext cx="10995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taller Frenos </a:t>
            </a:r>
            <a:r>
              <a:rPr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Cerma ubicado en Gonzalo Lizasoain 536, La Calera </a:t>
            </a:r>
            <a:r>
              <a:rPr b="0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maneja aproximadamente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1.500 productos y repuestos distintos</a:t>
            </a:r>
            <a:r>
              <a:rPr b="0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intentando mantener un nivel objetivo de 3 unidades por ítem.</a:t>
            </a:r>
            <a:endParaRPr sz="1700"/>
          </a:p>
        </p:txBody>
      </p:sp>
      <p:sp>
        <p:nvSpPr>
          <p:cNvPr id="181" name="Google Shape;181;p3"/>
          <p:cNvSpPr txBox="1"/>
          <p:nvPr/>
        </p:nvSpPr>
        <p:spPr>
          <a:xfrm>
            <a:off x="873488" y="3040125"/>
            <a:ext cx="5290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Cliente</a:t>
            </a:r>
            <a:endParaRPr sz="1700"/>
          </a:p>
        </p:txBody>
      </p:sp>
      <p:sp>
        <p:nvSpPr>
          <p:cNvPr id="182" name="Google Shape;182;p3"/>
          <p:cNvSpPr txBox="1"/>
          <p:nvPr/>
        </p:nvSpPr>
        <p:spPr>
          <a:xfrm>
            <a:off x="616900" y="3459750"/>
            <a:ext cx="10644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 </a:t>
            </a:r>
            <a:r>
              <a:rPr b="1"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Leonardo Cerna</a:t>
            </a:r>
            <a:r>
              <a:rPr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de 65 años,  dueño del taller </a:t>
            </a:r>
            <a:r>
              <a:rPr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mecánico y otros negocios en la zona, es una persona que posee poco conocimiento digital  y debido a problemas de salud tiene una </a:t>
            </a:r>
            <a:r>
              <a:rPr b="1"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 de carga y movilidad limitada</a:t>
            </a:r>
            <a:r>
              <a:rPr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700">
              <a:highlight>
                <a:srgbClr val="FF0000"/>
              </a:highlight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873490" y="4644788"/>
            <a:ext cx="103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Procesos</a:t>
            </a:r>
            <a:endParaRPr sz="1700"/>
          </a:p>
        </p:txBody>
      </p:sp>
      <p:sp>
        <p:nvSpPr>
          <p:cNvPr id="184" name="Google Shape;184;p3"/>
          <p:cNvSpPr txBox="1"/>
          <p:nvPr/>
        </p:nvSpPr>
        <p:spPr>
          <a:xfrm>
            <a:off x="569214" y="5044550"/>
            <a:ext cx="106923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cotizar, el d</a:t>
            </a:r>
            <a:r>
              <a:rPr lang="en-US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ueño o </a:t>
            </a: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mecánico</a:t>
            </a:r>
            <a:r>
              <a:rPr lang="en-US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revisa </a:t>
            </a:r>
            <a:r>
              <a:rPr b="1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manualmente </a:t>
            </a: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sitios web de proveedores y realiza los </a:t>
            </a:r>
            <a:r>
              <a:rPr b="1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cálculos</a:t>
            </a: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precios en </a:t>
            </a:r>
            <a:r>
              <a:rPr b="1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papel o calculadoras</a:t>
            </a:r>
            <a:r>
              <a:rPr b="0" i="0" lang="en-US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sencillas.</a:t>
            </a:r>
            <a:endParaRPr/>
          </a:p>
        </p:txBody>
      </p:sp>
      <p:pic>
        <p:nvPicPr>
          <p:cNvPr descr="image.png" id="185" name="Google Shape;18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088" y="13081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424" y="306101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900" y="46803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Contexto: </a:t>
            </a: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81100"/>
            <a:ext cx="55245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181100"/>
            <a:ext cx="55245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328987"/>
            <a:ext cx="55245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328987"/>
            <a:ext cx="55245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1068050" y="6543675"/>
            <a:ext cx="6477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4 DE 18</a:t>
            </a:r>
            <a:endParaRPr/>
          </a:p>
        </p:txBody>
      </p:sp>
      <p:pic>
        <p:nvPicPr>
          <p:cNvPr descr="image.png" id="201" name="Google Shape;20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325" y="1400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 txBox="1"/>
          <p:nvPr/>
        </p:nvSpPr>
        <p:spPr>
          <a:xfrm>
            <a:off x="695325" y="1962150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 Registro Centralizado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695325" y="2276475"/>
            <a:ext cx="5086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Inexistencia de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una base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datos para consultar precios y stock disponible en tiempo real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204" name="Google Shape;20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0325" y="1400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6410325" y="1962150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Pérdida de Tiempo Operativo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410325" y="2276475"/>
            <a:ext cx="508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personal pierde minutos valiosos por cada cliente debiendo acudir físicamente al almacén para verificar la disponibilidad de repuestos.</a:t>
            </a:r>
            <a:endParaRPr/>
          </a:p>
        </p:txBody>
      </p:sp>
      <p:pic>
        <p:nvPicPr>
          <p:cNvPr descr="image.png" id="207" name="Google Shape;20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5325" y="35480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/>
          <p:nvPr/>
        </p:nvSpPr>
        <p:spPr>
          <a:xfrm>
            <a:off x="695325" y="4110037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Errores en Cotización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695325" y="4424362"/>
            <a:ext cx="508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cálculos manuales y la consulta manual de listas externas de precios incrementan el riesgo de margen de error al entregar presupuestos al cliente.</a:t>
            </a:r>
            <a:endParaRPr/>
          </a:p>
        </p:txBody>
      </p:sp>
      <p:pic>
        <p:nvPicPr>
          <p:cNvPr descr="image.png" id="210" name="Google Shape;21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10325" y="354806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"/>
          <p:cNvSpPr txBox="1"/>
          <p:nvPr/>
        </p:nvSpPr>
        <p:spPr>
          <a:xfrm>
            <a:off x="6410325" y="4110037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Trazabilidad Vehicular Nula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6410325" y="4424362"/>
            <a:ext cx="508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Falta de historial estructurado por vehículo (kilometraje, servicios previos y repuestos utilizados) para fidelizar al cliente y dar seguimiento técnico.</a:t>
            </a:r>
            <a:endParaRPr/>
          </a:p>
        </p:txBody>
      </p:sp>
      <p:pic>
        <p:nvPicPr>
          <p:cNvPr descr="image.png" id="213" name="Google Shape;213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9150" y="1514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24625" y="15144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36623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00812" y="36623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Problema: Visibilidad Limitada e Ineficiencia</a:t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111400"/>
            <a:ext cx="3619500" cy="26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111400"/>
            <a:ext cx="3619500" cy="26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111400"/>
            <a:ext cx="3619500" cy="26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1068050" y="6543675"/>
            <a:ext cx="6477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5 DE 18</a:t>
            </a:r>
            <a:endParaRPr/>
          </a:p>
        </p:txBody>
      </p:sp>
      <p:pic>
        <p:nvPicPr>
          <p:cNvPr descr="image.png" id="229" name="Google Shape;2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5" y="23304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695325" y="2940075"/>
            <a:ext cx="3340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Administrar Productos/Mantener un registro de servicios.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695325" y="3429000"/>
            <a:ext cx="31812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 necesita poder administrar sus productos sin necesidad de consultar la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 proveedor y llevar un registro detallado de los servicios proporcionados para tener una mejor trazabilidad del vehiculo.</a:t>
            </a:r>
            <a:endParaRPr/>
          </a:p>
        </p:txBody>
      </p:sp>
      <p:pic>
        <p:nvPicPr>
          <p:cNvPr descr="image.png" id="232" name="Google Shape;23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5325" y="23304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"/>
          <p:cNvSpPr txBox="1"/>
          <p:nvPr/>
        </p:nvSpPr>
        <p:spPr>
          <a:xfrm>
            <a:off x="4505325" y="2940075"/>
            <a:ext cx="3340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Consultar información de forma remota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4505400" y="3428988"/>
            <a:ext cx="3181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 necesita poder consultar información sobre sus productos sin tener que tocar el teclado ni el touch de su celular.</a:t>
            </a:r>
            <a:endParaRPr/>
          </a:p>
        </p:txBody>
      </p:sp>
      <p:pic>
        <p:nvPicPr>
          <p:cNvPr descr="image.png" id="235" name="Google Shape;23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23304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 txBox="1"/>
          <p:nvPr/>
        </p:nvSpPr>
        <p:spPr>
          <a:xfrm>
            <a:off x="8315325" y="2940075"/>
            <a:ext cx="334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Sincronización Automática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8315325" y="3302025"/>
            <a:ext cx="3181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Automatizar la actualización de precios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notificar promociones relevantes pa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 el cliente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238" name="Google Shape;23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337" y="24447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3437" y="24447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9625" y="24447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Necesidad del Proyecto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g3f838afe8e0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g3f838afe8e0_1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81100"/>
            <a:ext cx="5476875" cy="142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g3f838afe8e0_1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744837"/>
            <a:ext cx="5476875" cy="919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g3f838afe8e0_1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806874"/>
            <a:ext cx="54768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g3f838afe8e0_1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1181100"/>
            <a:ext cx="54768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g3f838afe8e0_1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067050"/>
            <a:ext cx="54768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g3f838afe8e0_1_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4953000"/>
            <a:ext cx="54768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g3f838afe8e0_1_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838afe8e0_1_2"/>
          <p:cNvSpPr txBox="1"/>
          <p:nvPr/>
        </p:nvSpPr>
        <p:spPr>
          <a:xfrm>
            <a:off x="476250" y="6543675"/>
            <a:ext cx="2105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256" name="Google Shape;256;g3f838afe8e0_1_2"/>
          <p:cNvSpPr txBox="1"/>
          <p:nvPr/>
        </p:nvSpPr>
        <p:spPr>
          <a:xfrm>
            <a:off x="11068050" y="6543675"/>
            <a:ext cx="647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6 DE 18</a:t>
            </a:r>
            <a:endParaRPr/>
          </a:p>
        </p:txBody>
      </p:sp>
      <p:sp>
        <p:nvSpPr>
          <p:cNvPr id="257" name="Google Shape;257;g3f838afe8e0_1_2"/>
          <p:cNvSpPr txBox="1"/>
          <p:nvPr/>
        </p:nvSpPr>
        <p:spPr>
          <a:xfrm>
            <a:off x="685800" y="1390650"/>
            <a:ext cx="531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de Gestión Multidispositivo</a:t>
            </a:r>
            <a:endParaRPr/>
          </a:p>
        </p:txBody>
      </p:sp>
      <p:sp>
        <p:nvSpPr>
          <p:cNvPr id="258" name="Google Shape;258;g3f838afe8e0_1_2"/>
          <p:cNvSpPr txBox="1"/>
          <p:nvPr/>
        </p:nvSpPr>
        <p:spPr>
          <a:xfrm>
            <a:off x="685800" y="1752600"/>
            <a:ext cx="5057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compuesto por aplicación de escritorio (gestión administrativa/CRUD completo) y aplicación móvil (consultas rápidas + notificaciones exclusivas) conectadas a una BD PostgreSQL centralizada.</a:t>
            </a:r>
            <a:endParaRPr/>
          </a:p>
        </p:txBody>
      </p:sp>
      <p:sp>
        <p:nvSpPr>
          <p:cNvPr id="259" name="Google Shape;259;g3f838afe8e0_1_2"/>
          <p:cNvSpPr txBox="1"/>
          <p:nvPr/>
        </p:nvSpPr>
        <p:spPr>
          <a:xfrm>
            <a:off x="695325" y="2963912"/>
            <a:ext cx="52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Levantamiento Inicial de Datos</a:t>
            </a:r>
            <a:endParaRPr/>
          </a:p>
        </p:txBody>
      </p:sp>
      <p:sp>
        <p:nvSpPr>
          <p:cNvPr id="260" name="Google Shape;260;g3f838afe8e0_1_2"/>
          <p:cNvSpPr txBox="1"/>
          <p:nvPr/>
        </p:nvSpPr>
        <p:spPr>
          <a:xfrm>
            <a:off x="695325" y="3259187"/>
            <a:ext cx="5038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Estructuración e ingreso de ~1.500 productos existentes en bodega desde cero.</a:t>
            </a:r>
            <a:endParaRPr/>
          </a:p>
        </p:txBody>
      </p:sp>
      <p:sp>
        <p:nvSpPr>
          <p:cNvPr id="261" name="Google Shape;261;g3f838afe8e0_1_2"/>
          <p:cNvSpPr txBox="1"/>
          <p:nvPr/>
        </p:nvSpPr>
        <p:spPr>
          <a:xfrm>
            <a:off x="695325" y="4025949"/>
            <a:ext cx="52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Hoja de Vida del Vehículo (Multidispositivo)</a:t>
            </a:r>
            <a:endParaRPr/>
          </a:p>
        </p:txBody>
      </p:sp>
      <p:sp>
        <p:nvSpPr>
          <p:cNvPr id="262" name="Google Shape;262;g3f838afe8e0_1_2"/>
          <p:cNvSpPr txBox="1"/>
          <p:nvPr/>
        </p:nvSpPr>
        <p:spPr>
          <a:xfrm>
            <a:off x="695325" y="4321224"/>
            <a:ext cx="5038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completo de atenciones, repuestos instalados y kilometraje por patente, con creación/consulta desde la app de Escritorio y Móvil.</a:t>
            </a:r>
            <a:endParaRPr/>
          </a:p>
        </p:txBody>
      </p:sp>
      <p:pic>
        <p:nvPicPr>
          <p:cNvPr descr="image.png" id="263" name="Google Shape;263;g3f838afe8e0_1_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57950" y="1400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838afe8e0_1_2"/>
          <p:cNvSpPr txBox="1"/>
          <p:nvPr/>
        </p:nvSpPr>
        <p:spPr>
          <a:xfrm>
            <a:off x="6457950" y="1962150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Agente IA por Voz</a:t>
            </a:r>
            <a:endParaRPr/>
          </a:p>
        </p:txBody>
      </p:sp>
      <p:sp>
        <p:nvSpPr>
          <p:cNvPr id="265" name="Google Shape;265;g3f838afe8e0_1_2"/>
          <p:cNvSpPr txBox="1"/>
          <p:nvPr/>
        </p:nvSpPr>
        <p:spPr>
          <a:xfrm>
            <a:off x="6457950" y="2276475"/>
            <a:ext cx="5038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Asistente virtual manos libres que interpreta comandos de voz para consultar disponibilidad y precios en taller.</a:t>
            </a:r>
            <a:endParaRPr/>
          </a:p>
        </p:txBody>
      </p:sp>
      <p:pic>
        <p:nvPicPr>
          <p:cNvPr descr="image.png" id="266" name="Google Shape;266;g3f838afe8e0_1_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57950" y="32861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f838afe8e0_1_2"/>
          <p:cNvSpPr txBox="1"/>
          <p:nvPr/>
        </p:nvSpPr>
        <p:spPr>
          <a:xfrm>
            <a:off x="6457950" y="3848100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 Scraping de Precios</a:t>
            </a:r>
            <a:endParaRPr/>
          </a:p>
        </p:txBody>
      </p:sp>
      <p:sp>
        <p:nvSpPr>
          <p:cNvPr id="268" name="Google Shape;268;g3f838afe8e0_1_2"/>
          <p:cNvSpPr txBox="1"/>
          <p:nvPr/>
        </p:nvSpPr>
        <p:spPr>
          <a:xfrm>
            <a:off x="6457950" y="4162425"/>
            <a:ext cx="5038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Extracción automatizada de tarifas del proveedor y aplicación de factor X + 10% de instalación.</a:t>
            </a:r>
            <a:endParaRPr/>
          </a:p>
        </p:txBody>
      </p:sp>
      <p:pic>
        <p:nvPicPr>
          <p:cNvPr descr="image.png" id="269" name="Google Shape;269;g3f838afe8e0_1_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57950" y="51720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838afe8e0_1_2"/>
          <p:cNvSpPr txBox="1"/>
          <p:nvPr/>
        </p:nvSpPr>
        <p:spPr>
          <a:xfrm>
            <a:off x="6457950" y="5734050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Notificaciones Exclusivas en App Móvil</a:t>
            </a:r>
            <a:endParaRPr/>
          </a:p>
        </p:txBody>
      </p:sp>
      <p:sp>
        <p:nvSpPr>
          <p:cNvPr id="271" name="Google Shape;271;g3f838afe8e0_1_2"/>
          <p:cNvSpPr txBox="1"/>
          <p:nvPr/>
        </p:nvSpPr>
        <p:spPr>
          <a:xfrm>
            <a:off x="6457950" y="6048375"/>
            <a:ext cx="5038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Alertas push enviadas directamente al celular informando rebajas y ofertas del proveedor.</a:t>
            </a:r>
            <a:endParaRPr/>
          </a:p>
        </p:txBody>
      </p:sp>
      <p:pic>
        <p:nvPicPr>
          <p:cNvPr descr="image.png" id="272" name="Google Shape;272;g3f838afe8e0_1_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5325" y="29829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g3f838afe8e0_1_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5325" y="404499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g3f838afe8e0_1_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48437" y="15144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g3f838afe8e0_1_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72250" y="34004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g3f838afe8e0_1_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81775" y="52863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f838afe8e0_1_2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Nuestra Solución Integral</a:t>
            </a:r>
            <a:endParaRPr/>
          </a:p>
        </p:txBody>
      </p:sp>
      <p:sp>
        <p:nvSpPr>
          <p:cNvPr id="278" name="Google Shape;278;g3f838afe8e0_1_2"/>
          <p:cNvSpPr/>
          <p:nvPr/>
        </p:nvSpPr>
        <p:spPr>
          <a:xfrm>
            <a:off x="476250" y="923925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416975"/>
            <a:ext cx="3619500" cy="319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416975"/>
            <a:ext cx="3619500" cy="319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416975"/>
            <a:ext cx="3619500" cy="319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7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11077575" y="6543675"/>
            <a:ext cx="6381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7 DE 18</a:t>
            </a:r>
            <a:endParaRPr/>
          </a:p>
        </p:txBody>
      </p:sp>
      <p:pic>
        <p:nvPicPr>
          <p:cNvPr descr="image.png" id="289" name="Google Shape;28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636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7"/>
          <p:cNvSpPr txBox="1"/>
          <p:nvPr/>
        </p:nvSpPr>
        <p:spPr>
          <a:xfrm>
            <a:off x="1490900" y="3350425"/>
            <a:ext cx="15903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 Escritorio</a:t>
            </a:r>
            <a:endParaRPr sz="1800"/>
          </a:p>
        </p:txBody>
      </p:sp>
      <p:sp>
        <p:nvSpPr>
          <p:cNvPr id="291" name="Google Shape;291;p7"/>
          <p:cNvSpPr txBox="1"/>
          <p:nvPr/>
        </p:nvSpPr>
        <p:spPr>
          <a:xfrm>
            <a:off x="695475" y="3982150"/>
            <a:ext cx="31812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Administración general del catálogo, CRUD de productos, gestión de </a:t>
            </a:r>
            <a:r>
              <a:rPr lang="en-US" sz="137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hoja de vida del </a:t>
            </a:r>
            <a:r>
              <a:rPr lang="en-US" sz="137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vehículo</a:t>
            </a: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generación de reportes y configuración de reglas de negocio.</a:t>
            </a:r>
            <a:endParaRPr sz="1800"/>
          </a:p>
        </p:txBody>
      </p:sp>
      <p:pic>
        <p:nvPicPr>
          <p:cNvPr descr="image.png" id="292" name="Google Shape;29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36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5490924" y="3350425"/>
            <a:ext cx="12102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 Móvil</a:t>
            </a:r>
            <a:endParaRPr sz="1800"/>
          </a:p>
        </p:txBody>
      </p:sp>
      <p:sp>
        <p:nvSpPr>
          <p:cNvPr id="294" name="Google Shape;294;p7"/>
          <p:cNvSpPr txBox="1"/>
          <p:nvPr/>
        </p:nvSpPr>
        <p:spPr>
          <a:xfrm>
            <a:off x="4466875" y="4006475"/>
            <a:ext cx="31812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 rápid</a:t>
            </a:r>
            <a:r>
              <a:rPr lang="en-US" sz="137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de stock</a:t>
            </a: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registros express de salida de repuestos y de servicios a la ho</a:t>
            </a:r>
            <a:r>
              <a:rPr lang="en-US" sz="137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</a:t>
            </a: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de vida vehicular, recepción de notificaciones de ofertas e historial vehicular.</a:t>
            </a:r>
            <a:endParaRPr sz="1800"/>
          </a:p>
        </p:txBody>
      </p:sp>
      <p:pic>
        <p:nvPicPr>
          <p:cNvPr descr="image.png" id="295" name="Google Shape;29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636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 txBox="1"/>
          <p:nvPr/>
        </p:nvSpPr>
        <p:spPr>
          <a:xfrm>
            <a:off x="8945880" y="3350425"/>
            <a:ext cx="19203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 IA &amp; Scraping</a:t>
            </a:r>
            <a:endParaRPr sz="1800"/>
          </a:p>
        </p:txBody>
      </p:sp>
      <p:sp>
        <p:nvSpPr>
          <p:cNvPr id="297" name="Google Shape;297;p7"/>
          <p:cNvSpPr txBox="1"/>
          <p:nvPr/>
        </p:nvSpPr>
        <p:spPr>
          <a:xfrm>
            <a:off x="8315325" y="4048600"/>
            <a:ext cx="31812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 backend de procesamiento de lenguaje natural (NLP) + motor de scraping programado (Cron Job) para actualización continua.</a:t>
            </a:r>
            <a:endParaRPr sz="1800"/>
          </a:p>
        </p:txBody>
      </p:sp>
      <p:pic>
        <p:nvPicPr>
          <p:cNvPr descr="image.png" id="298" name="Google Shape;29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33600" y="27884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5987" y="278845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2650" y="27884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Nuestra Solución: </a:t>
            </a: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Módulos Funcionales</a:t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11068050" y="6543675"/>
            <a:ext cx="6477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8 DE 18</a:t>
            </a:r>
            <a:endParaRPr/>
          </a:p>
        </p:txBody>
      </p:sp>
      <p:graphicFrame>
        <p:nvGraphicFramePr>
          <p:cNvPr id="311" name="Google Shape;311;p8"/>
          <p:cNvGraphicFramePr/>
          <p:nvPr/>
        </p:nvGraphicFramePr>
        <p:xfrm>
          <a:off x="476250" y="1181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{98F2AD37-5337-425B-B451-3FAE8FC15B2D}</a:tableStyleId>
              </a:tblPr>
              <a:tblGrid>
                <a:gridCol w="838650"/>
                <a:gridCol w="2296125"/>
                <a:gridCol w="1153275"/>
                <a:gridCol w="1992075"/>
                <a:gridCol w="4959400"/>
              </a:tblGrid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# R-N°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Nombre del Requerimiento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Actores Relacionados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Descripción Corta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RF-01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Gestión de Inventario (CRUD)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Sistema, Mecánico, 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Permitir registrar, consultar, editar y dar de baja productos y stock.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RF-02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Asistente de IA por Voz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Mecánicos,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Procesar consultas por voz sobre stock y características de repuestos.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RF-03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Web Scraping de Precios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Sistema, Proveedores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Extraer y actualizar automáticamente precios desde sitio web proveedor.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RF-04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Módulo Hoja de Vida Vehicular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Mecánicos, Clientes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Registrar historial de servicios, repuestos instalados y kilometraje.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RF-05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Notificaciones Push de Ofertas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Sistema, Usuarios Móviles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Enviar alertas a la app móvil ante bajadas de precios o promociones.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RNF-01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Acceso Multidispositivo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Usuarios Escritorio/Móvil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Asegurar interoperabilidad entre app desktop, app móvil y API central.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RNF-02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Seguridad y Autenticación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Sistema, Administradores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Proteger accesos mediante roles y cifrado de datos sensibles.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RNF-03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Desempeño y Disponibilidad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Sistema, Base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Garantizar tiempos de respuesta rápidos en consultas de stock en taller.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8"/>
          <p:cNvSpPr/>
          <p:nvPr/>
        </p:nvSpPr>
        <p:spPr>
          <a:xfrm>
            <a:off x="476250" y="1862137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1314896" y="1862137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611016" y="1862137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764285" y="1862137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756350" y="1862137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76250" y="2214562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1314896" y="2214562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611016" y="2214562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764285" y="2214562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6756350" y="2214562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76250" y="2566987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314896" y="2566987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3611016" y="2566987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764285" y="2566987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756350" y="2566987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76250" y="2919412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1314896" y="2919412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611016" y="2919412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764285" y="2919412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756350" y="2919412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76250" y="3271837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1314896" y="3271837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3611016" y="3271837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764285" y="3271837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756350" y="3271837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76250" y="3624262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1314896" y="3624262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611016" y="3624262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764285" y="3624262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756350" y="3624262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76250" y="3976687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1314896" y="3976687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3611016" y="3976687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764285" y="3976687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756350" y="3976687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76250" y="4329112"/>
            <a:ext cx="838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1314896" y="4329112"/>
            <a:ext cx="2296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611016" y="4329112"/>
            <a:ext cx="1153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764285" y="4329112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756350" y="4329112"/>
            <a:ext cx="4959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Tabla de Requerimientos del Sistema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g3f838afe8e0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181100"/>
            <a:ext cx="3651200" cy="275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g3f838afe8e0_1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0325" y="1181100"/>
            <a:ext cx="3651200" cy="275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g3f838afe8e0_1_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181100"/>
            <a:ext cx="3651350" cy="275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g3f838afe8e0_1_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400" y="4059300"/>
            <a:ext cx="5548300" cy="172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g3f838afe8e0_1_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1650" y="4059300"/>
            <a:ext cx="5548325" cy="174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g3f838afe8e0_1_1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f838afe8e0_1_112"/>
          <p:cNvSpPr txBox="1"/>
          <p:nvPr/>
        </p:nvSpPr>
        <p:spPr>
          <a:xfrm>
            <a:off x="476250" y="6543675"/>
            <a:ext cx="2105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365" name="Google Shape;365;g3f838afe8e0_1_112"/>
          <p:cNvSpPr txBox="1"/>
          <p:nvPr/>
        </p:nvSpPr>
        <p:spPr>
          <a:xfrm>
            <a:off x="11068050" y="6543675"/>
            <a:ext cx="647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9 DE 18</a:t>
            </a:r>
            <a:endParaRPr/>
          </a:p>
        </p:txBody>
      </p:sp>
      <p:sp>
        <p:nvSpPr>
          <p:cNvPr id="366" name="Google Shape;366;g3f838afe8e0_1_112"/>
          <p:cNvSpPr txBox="1"/>
          <p:nvPr/>
        </p:nvSpPr>
        <p:spPr>
          <a:xfrm>
            <a:off x="685800" y="1771650"/>
            <a:ext cx="339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 1: Inventario &amp; App Escritorio</a:t>
            </a:r>
            <a:endParaRPr sz="2000"/>
          </a:p>
        </p:txBody>
      </p:sp>
      <p:sp>
        <p:nvSpPr>
          <p:cNvPr id="367" name="Google Shape;367;g3f838afe8e0_1_112"/>
          <p:cNvSpPr txBox="1"/>
          <p:nvPr/>
        </p:nvSpPr>
        <p:spPr>
          <a:xfrm>
            <a:off x="685800" y="2325750"/>
            <a:ext cx="32322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Levantamiento de ~1.500 productos, BD PostgreSQL, API REST y desarrollo de App Escritorio para administración y </a:t>
            </a:r>
            <a:r>
              <a:rPr b="1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CRUD completo de inventario</a:t>
            </a: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2000"/>
          </a:p>
        </p:txBody>
      </p:sp>
      <p:sp>
        <p:nvSpPr>
          <p:cNvPr id="368" name="Google Shape;368;g3f838afe8e0_1_112"/>
          <p:cNvSpPr txBox="1"/>
          <p:nvPr/>
        </p:nvSpPr>
        <p:spPr>
          <a:xfrm>
            <a:off x="4479875" y="1771650"/>
            <a:ext cx="339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 2: Asistente IA por Voz</a:t>
            </a:r>
            <a:endParaRPr sz="2000"/>
          </a:p>
        </p:txBody>
      </p:sp>
      <p:sp>
        <p:nvSpPr>
          <p:cNvPr id="369" name="Google Shape;369;g3f838afe8e0_1_112"/>
          <p:cNvSpPr txBox="1"/>
          <p:nvPr/>
        </p:nvSpPr>
        <p:spPr>
          <a:xfrm>
            <a:off x="4479875" y="2066925"/>
            <a:ext cx="32322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NLP y reconocimiento/síntesis de voz para consultas verbales de stock y precios de forma manos libres en taller.</a:t>
            </a:r>
            <a:endParaRPr sz="2000"/>
          </a:p>
        </p:txBody>
      </p:sp>
      <p:sp>
        <p:nvSpPr>
          <p:cNvPr id="370" name="Google Shape;370;g3f838afe8e0_1_112"/>
          <p:cNvSpPr txBox="1"/>
          <p:nvPr/>
        </p:nvSpPr>
        <p:spPr>
          <a:xfrm>
            <a:off x="8273950" y="1771650"/>
            <a:ext cx="339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 3: Web Scraping de Precios</a:t>
            </a:r>
            <a:endParaRPr sz="2000"/>
          </a:p>
        </p:txBody>
      </p:sp>
      <p:sp>
        <p:nvSpPr>
          <p:cNvPr id="371" name="Google Shape;371;g3f838afe8e0_1_112"/>
          <p:cNvSpPr txBox="1"/>
          <p:nvPr/>
        </p:nvSpPr>
        <p:spPr>
          <a:xfrm>
            <a:off x="8273850" y="2311400"/>
            <a:ext cx="3232200" cy="1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automatizado para extracción periódica de precios desde el sitio del proveedor y cálculo dinámico con factor X.</a:t>
            </a:r>
            <a:endParaRPr sz="2000"/>
          </a:p>
        </p:txBody>
      </p:sp>
      <p:sp>
        <p:nvSpPr>
          <p:cNvPr id="372" name="Google Shape;372;g3f838afe8e0_1_112"/>
          <p:cNvSpPr txBox="1"/>
          <p:nvPr/>
        </p:nvSpPr>
        <p:spPr>
          <a:xfrm>
            <a:off x="670075" y="4486696"/>
            <a:ext cx="53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 4: App Móvil &amp; Notificaciones Push</a:t>
            </a:r>
            <a:endParaRPr sz="2000"/>
          </a:p>
        </p:txBody>
      </p:sp>
      <p:sp>
        <p:nvSpPr>
          <p:cNvPr id="373" name="Google Shape;373;g3f838afe8e0_1_112"/>
          <p:cNvSpPr txBox="1"/>
          <p:nvPr/>
        </p:nvSpPr>
        <p:spPr>
          <a:xfrm>
            <a:off x="670075" y="4781971"/>
            <a:ext cx="51291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en Flutter para </a:t>
            </a:r>
            <a:r>
              <a:rPr b="1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de stock</a:t>
            </a: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fosa/taller y servicio exclusivo de </a:t>
            </a:r>
            <a:r>
              <a:rPr b="1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notificaciones push</a:t>
            </a: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ofertas del proveedor.</a:t>
            </a:r>
            <a:endParaRPr sz="2000"/>
          </a:p>
        </p:txBody>
      </p:sp>
      <p:sp>
        <p:nvSpPr>
          <p:cNvPr id="374" name="Google Shape;374;g3f838afe8e0_1_112"/>
          <p:cNvSpPr txBox="1"/>
          <p:nvPr/>
        </p:nvSpPr>
        <p:spPr>
          <a:xfrm>
            <a:off x="6392012" y="4486696"/>
            <a:ext cx="53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 5: Módulo Hoja de Vida Vehicular</a:t>
            </a:r>
            <a:endParaRPr sz="2000"/>
          </a:p>
        </p:txBody>
      </p:sp>
      <p:sp>
        <p:nvSpPr>
          <p:cNvPr id="375" name="Google Shape;375;g3f838afe8e0_1_112"/>
          <p:cNvSpPr txBox="1"/>
          <p:nvPr/>
        </p:nvSpPr>
        <p:spPr>
          <a:xfrm>
            <a:off x="6392012" y="4781971"/>
            <a:ext cx="51291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histórico de atenciones, kilometraje exacto y repuestos instalados por patente, </a:t>
            </a:r>
            <a:r>
              <a:rPr b="1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disponible tanto en Escritorio como en Móvil</a:t>
            </a:r>
            <a:r>
              <a:rPr b="0" i="0" lang="en-US" sz="1537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2000"/>
          </a:p>
        </p:txBody>
      </p:sp>
      <p:pic>
        <p:nvPicPr>
          <p:cNvPr descr="image.png" id="376" name="Google Shape;376;g3f838afe8e0_1_1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800" y="14287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g3f838afe8e0_1_1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9875" y="14287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g3f838afe8e0_1_1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73950" y="14287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g3f838afe8e0_1_1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0075" y="4143796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g3f838afe8e0_1_1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92012" y="414379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838afe8e0_1_112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Épicas del Proyecto APT</a:t>
            </a:r>
            <a:endParaRPr/>
          </a:p>
        </p:txBody>
      </p:sp>
      <p:sp>
        <p:nvSpPr>
          <p:cNvPr id="382" name="Google Shape;382;g3f838afe8e0_1_112"/>
          <p:cNvSpPr/>
          <p:nvPr/>
        </p:nvSpPr>
        <p:spPr>
          <a:xfrm>
            <a:off x="476250" y="923925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g3f838afe8e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675" y="1518704"/>
            <a:ext cx="5553075" cy="191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g3f838afe8e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2100" y="1518705"/>
            <a:ext cx="5553075" cy="191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g3f838afe8e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675" y="3898395"/>
            <a:ext cx="5553075" cy="20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g3f838afe8e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2100" y="3898395"/>
            <a:ext cx="5553075" cy="20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g3f838afe8e0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838afe8e0_0_0"/>
          <p:cNvSpPr txBox="1"/>
          <p:nvPr/>
        </p:nvSpPr>
        <p:spPr>
          <a:xfrm>
            <a:off x="476250" y="6543675"/>
            <a:ext cx="2105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393" name="Google Shape;393;g3f838afe8e0_0_0"/>
          <p:cNvSpPr txBox="1"/>
          <p:nvPr/>
        </p:nvSpPr>
        <p:spPr>
          <a:xfrm>
            <a:off x="11029950" y="6543675"/>
            <a:ext cx="685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15 DE 18</a:t>
            </a:r>
            <a:endParaRPr/>
          </a:p>
        </p:txBody>
      </p:sp>
      <p:sp>
        <p:nvSpPr>
          <p:cNvPr id="394" name="Google Shape;394;g3f838afe8e0_0_0"/>
          <p:cNvSpPr txBox="1"/>
          <p:nvPr/>
        </p:nvSpPr>
        <p:spPr>
          <a:xfrm>
            <a:off x="3764300" y="1661588"/>
            <a:ext cx="20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US-01</a:t>
            </a:r>
            <a:endParaRPr/>
          </a:p>
        </p:txBody>
      </p:sp>
      <p:sp>
        <p:nvSpPr>
          <p:cNvPr id="395" name="Google Shape;395;g3f838afe8e0_0_0"/>
          <p:cNvSpPr txBox="1"/>
          <p:nvPr/>
        </p:nvSpPr>
        <p:spPr>
          <a:xfrm>
            <a:off x="546175" y="1891175"/>
            <a:ext cx="520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de Stock por Comandos de Voz Manos Libres</a:t>
            </a:r>
            <a:endParaRPr sz="1600"/>
          </a:p>
        </p:txBody>
      </p:sp>
      <p:sp>
        <p:nvSpPr>
          <p:cNvPr id="396" name="Google Shape;396;g3f838afe8e0_0_0"/>
          <p:cNvSpPr txBox="1"/>
          <p:nvPr/>
        </p:nvSpPr>
        <p:spPr>
          <a:xfrm>
            <a:off x="546175" y="2128288"/>
            <a:ext cx="52008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Quiero: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Consultar la disponibilidad y precio final de un repuesto dictando el código de memoria por voz y recibiendo la respuesta auditiva.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Evitar caminar dos veces hasta la bodega (salud/hernia) y no manipular pantallas táctiles con las manos con grasa.</a:t>
            </a:r>
            <a:endParaRPr sz="1300"/>
          </a:p>
        </p:txBody>
      </p:sp>
      <p:sp>
        <p:nvSpPr>
          <p:cNvPr id="397" name="Google Shape;397;g3f838afe8e0_0_0"/>
          <p:cNvSpPr txBox="1"/>
          <p:nvPr/>
        </p:nvSpPr>
        <p:spPr>
          <a:xfrm>
            <a:off x="8613850" y="1661563"/>
            <a:ext cx="281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US-02</a:t>
            </a:r>
            <a:endParaRPr/>
          </a:p>
        </p:txBody>
      </p:sp>
      <p:sp>
        <p:nvSpPr>
          <p:cNvPr id="398" name="Google Shape;398;g3f838afe8e0_0_0"/>
          <p:cNvSpPr txBox="1"/>
          <p:nvPr/>
        </p:nvSpPr>
        <p:spPr>
          <a:xfrm>
            <a:off x="6232600" y="1889263"/>
            <a:ext cx="520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Búsqueda Inteligente por Marca / Modelo de Vehículo</a:t>
            </a:r>
            <a:endParaRPr sz="1600"/>
          </a:p>
        </p:txBody>
      </p:sp>
      <p:sp>
        <p:nvSpPr>
          <p:cNvPr id="399" name="Google Shape;399;g3f838afe8e0_0_0"/>
          <p:cNvSpPr txBox="1"/>
          <p:nvPr/>
        </p:nvSpPr>
        <p:spPr>
          <a:xfrm>
            <a:off x="6232600" y="2128288"/>
            <a:ext cx="5200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Quiero: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Buscar productos compatibles ingresando la marca y modelo del automóvil en la app móvil o por voz.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Identificar el repuesto exacto que el vehículo necesita sin depender del mecánico que conoce los códigos de memoria.</a:t>
            </a:r>
            <a:endParaRPr sz="1300"/>
          </a:p>
        </p:txBody>
      </p:sp>
      <p:sp>
        <p:nvSpPr>
          <p:cNvPr id="400" name="Google Shape;400;g3f838afe8e0_0_0"/>
          <p:cNvSpPr txBox="1"/>
          <p:nvPr/>
        </p:nvSpPr>
        <p:spPr>
          <a:xfrm>
            <a:off x="2249888" y="4050235"/>
            <a:ext cx="3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US-03</a:t>
            </a:r>
            <a:endParaRPr/>
          </a:p>
        </p:txBody>
      </p:sp>
      <p:sp>
        <p:nvSpPr>
          <p:cNvPr id="401" name="Google Shape;401;g3f838afe8e0_0_0"/>
          <p:cNvSpPr txBox="1"/>
          <p:nvPr/>
        </p:nvSpPr>
        <p:spPr>
          <a:xfrm>
            <a:off x="546175" y="4254698"/>
            <a:ext cx="520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Cotización Automática (Scraping + Instalación)</a:t>
            </a:r>
            <a:endParaRPr sz="1600"/>
          </a:p>
        </p:txBody>
      </p:sp>
      <p:sp>
        <p:nvSpPr>
          <p:cNvPr id="402" name="Google Shape;402;g3f838afe8e0_0_0"/>
          <p:cNvSpPr txBox="1"/>
          <p:nvPr/>
        </p:nvSpPr>
        <p:spPr>
          <a:xfrm>
            <a:off x="546175" y="4507989"/>
            <a:ext cx="52008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Quiero: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Calcular automáticamente el precio de venta (Costo Scraping Proveedor × Factor X) adicionando opcionalmente el 10% de instalación según la dificultad vehicular.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Entregar presupuestos inmediatos y precisos al cliente sin buscar ni calcular manualmente.</a:t>
            </a:r>
            <a:endParaRPr sz="1800"/>
          </a:p>
        </p:txBody>
      </p:sp>
      <p:sp>
        <p:nvSpPr>
          <p:cNvPr id="403" name="Google Shape;403;g3f838afe8e0_0_0"/>
          <p:cNvSpPr txBox="1"/>
          <p:nvPr/>
        </p:nvSpPr>
        <p:spPr>
          <a:xfrm>
            <a:off x="8309050" y="4041285"/>
            <a:ext cx="312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US-04</a:t>
            </a:r>
            <a:endParaRPr/>
          </a:p>
        </p:txBody>
      </p:sp>
      <p:sp>
        <p:nvSpPr>
          <p:cNvPr id="404" name="Google Shape;404;g3f838afe8e0_0_0"/>
          <p:cNvSpPr txBox="1"/>
          <p:nvPr/>
        </p:nvSpPr>
        <p:spPr>
          <a:xfrm>
            <a:off x="6232600" y="4254698"/>
            <a:ext cx="5200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de Kilometraje y Hoja de Vida Vehicular</a:t>
            </a:r>
            <a:endParaRPr sz="1600"/>
          </a:p>
        </p:txBody>
      </p:sp>
      <p:sp>
        <p:nvSpPr>
          <p:cNvPr id="405" name="Google Shape;405;g3f838afe8e0_0_0"/>
          <p:cNvSpPr txBox="1"/>
          <p:nvPr/>
        </p:nvSpPr>
        <p:spPr>
          <a:xfrm>
            <a:off x="6232600" y="4508010"/>
            <a:ext cx="52008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Quiero: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Registrar la patente, repuestos instalados y el kilometraje exacto del auto al momento del servicio.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Tener trazabilidad técnica y validar garantías de manera justa, evitando cobros indebidos de vehículos de alto uso (ej. Ubers/Apps).</a:t>
            </a:r>
            <a:endParaRPr sz="1300"/>
          </a:p>
        </p:txBody>
      </p:sp>
      <p:pic>
        <p:nvPicPr>
          <p:cNvPr descr="image.png" id="406" name="Google Shape;406;g3f838afe8e0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6175" y="1665363"/>
            <a:ext cx="3133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g3f838afe8e0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2600" y="1661563"/>
            <a:ext cx="23812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g3f838afe8e0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6175" y="4052135"/>
            <a:ext cx="16192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g3f838afe8e0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2600" y="4041285"/>
            <a:ext cx="2076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f838afe8e0_0_0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Historias de Usuario: Caso Real del Taller</a:t>
            </a:r>
            <a:endParaRPr/>
          </a:p>
        </p:txBody>
      </p:sp>
      <p:sp>
        <p:nvSpPr>
          <p:cNvPr id="411" name="Google Shape;411;g3f838afe8e0_0_0"/>
          <p:cNvSpPr/>
          <p:nvPr/>
        </p:nvSpPr>
        <p:spPr>
          <a:xfrm>
            <a:off x="476250" y="923925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0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11020425" y="6543675"/>
            <a:ext cx="6953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10 DE 18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del Sistema</a:t>
            </a:r>
            <a:endParaRPr/>
          </a:p>
        </p:txBody>
      </p:sp>
      <p:pic>
        <p:nvPicPr>
          <p:cNvPr id="421" name="Google Shape;421;p10" title="Untitled Diagram.drawio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1263704"/>
            <a:ext cx="11372951" cy="50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81100"/>
            <a:ext cx="5476875" cy="193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300" y="3360250"/>
            <a:ext cx="5476875" cy="292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1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431" name="Google Shape;431;p11"/>
          <p:cNvSpPr txBox="1"/>
          <p:nvPr/>
        </p:nvSpPr>
        <p:spPr>
          <a:xfrm>
            <a:off x="11058525" y="6543675"/>
            <a:ext cx="6572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11 DE 18</a:t>
            </a:r>
            <a:endParaRPr/>
          </a:p>
        </p:txBody>
      </p:sp>
      <p:sp>
        <p:nvSpPr>
          <p:cNvPr id="432" name="Google Shape;432;p11"/>
          <p:cNvSpPr txBox="1"/>
          <p:nvPr/>
        </p:nvSpPr>
        <p:spPr>
          <a:xfrm>
            <a:off x="695325" y="1400175"/>
            <a:ext cx="52908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Enfoque Iterativo e Incremental</a:t>
            </a:r>
            <a:endParaRPr sz="1900"/>
          </a:p>
        </p:txBody>
      </p:sp>
      <p:sp>
        <p:nvSpPr>
          <p:cNvPr id="433" name="Google Shape;433;p11"/>
          <p:cNvSpPr txBox="1"/>
          <p:nvPr/>
        </p:nvSpPr>
        <p:spPr>
          <a:xfrm>
            <a:off x="695325" y="1714500"/>
            <a:ext cx="50388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proyecto se desarrolla bajo el marco ágil </a:t>
            </a:r>
            <a:r>
              <a:rPr b="1" i="0" lang="en-US" sz="14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</a:t>
            </a:r>
            <a:r>
              <a:rPr b="0" i="0" lang="en-US" sz="14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dividiendo el ciclo de vida en Sprints de 2 a 3 semanas. Esto garantiza la entrega constante de incrementos de software funcionales y validados por el cliente del taller.</a:t>
            </a:r>
            <a:endParaRPr sz="1900"/>
          </a:p>
        </p:txBody>
      </p:sp>
      <p:sp>
        <p:nvSpPr>
          <p:cNvPr id="434" name="Google Shape;434;p11"/>
          <p:cNvSpPr txBox="1"/>
          <p:nvPr/>
        </p:nvSpPr>
        <p:spPr>
          <a:xfrm>
            <a:off x="885825" y="3413157"/>
            <a:ext cx="5290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Ciclo de Sprint</a:t>
            </a:r>
            <a:endParaRPr sz="1900"/>
          </a:p>
        </p:txBody>
      </p:sp>
      <p:pic>
        <p:nvPicPr>
          <p:cNvPr descr="image.png" id="435" name="Google Shape;43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675" y="347338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1"/>
          <p:cNvSpPr txBox="1"/>
          <p:nvPr/>
        </p:nvSpPr>
        <p:spPr>
          <a:xfrm>
            <a:off x="702675" y="3783974"/>
            <a:ext cx="4848300" cy="29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12738" lvl="0" marL="45720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25"/>
              <a:buFont typeface="Plus Jakarta Sans"/>
              <a:buChar char="-"/>
            </a:pPr>
            <a:r>
              <a:rPr b="1" i="0" lang="en-US" sz="13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Planning:</a:t>
            </a:r>
            <a:r>
              <a:rPr b="0" i="0" lang="en-US" sz="13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Definición de metas e Historias de Usuario.</a:t>
            </a:r>
            <a:endParaRPr b="1" sz="13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2738" lvl="0" marL="4572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25"/>
              <a:buFont typeface="Plus Jakarta Sans"/>
              <a:buChar char="-"/>
            </a:pPr>
            <a:r>
              <a:rPr b="1"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Daily Standups:</a:t>
            </a:r>
            <a:r>
              <a:rPr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Sincronización y registro de impedimentos.</a:t>
            </a:r>
            <a:endParaRPr b="1" sz="13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2738" lvl="0" marL="4572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25"/>
              <a:buFont typeface="Plus Jakarta Sans"/>
              <a:buChar char="-"/>
            </a:pPr>
            <a:r>
              <a:rPr b="1"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Review:</a:t>
            </a:r>
            <a:r>
              <a:rPr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Demostración de incrementos funcionales.</a:t>
            </a:r>
            <a:endParaRPr b="1" sz="13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2738" lvl="0" marL="45720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25"/>
              <a:buFont typeface="Plus Jakarta Sans"/>
              <a:buChar char="-"/>
            </a:pPr>
            <a:r>
              <a:rPr b="1"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Retrospectiva:</a:t>
            </a:r>
            <a:r>
              <a:rPr lang="en-US" sz="13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Evaluación y mejora continua del equipo.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923925" y="4972645"/>
            <a:ext cx="48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8" name="Google Shape;438;p11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Metodología de Desarrollo: Marco Scrum</a:t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11"/>
          <p:cNvPicPr preferRelativeResize="0"/>
          <p:nvPr/>
        </p:nvPicPr>
        <p:blipFill rotWithShape="1">
          <a:blip r:embed="rId8">
            <a:alphaModFix/>
          </a:blip>
          <a:srcRect b="5024" l="0" r="0" t="0"/>
          <a:stretch/>
        </p:blipFill>
        <p:spPr>
          <a:xfrm>
            <a:off x="5953125" y="1090600"/>
            <a:ext cx="5619750" cy="503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200" y="3937900"/>
            <a:ext cx="2621501" cy="282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9599" y="3937900"/>
            <a:ext cx="2621501" cy="282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674" y="3937900"/>
            <a:ext cx="2621501" cy="282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2"/>
          <p:cNvSpPr txBox="1"/>
          <p:nvPr/>
        </p:nvSpPr>
        <p:spPr>
          <a:xfrm>
            <a:off x="11029950" y="65436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12 DE 18</a:t>
            </a:r>
            <a:endParaRPr/>
          </a:p>
        </p:txBody>
      </p:sp>
      <p:pic>
        <p:nvPicPr>
          <p:cNvPr descr="image.png" id="449" name="Google Shape;44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003" y="4096569"/>
            <a:ext cx="551893" cy="55189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2"/>
          <p:cNvSpPr txBox="1"/>
          <p:nvPr/>
        </p:nvSpPr>
        <p:spPr>
          <a:xfrm>
            <a:off x="8131846" y="4786435"/>
            <a:ext cx="898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Anette Villalón</a:t>
            </a:r>
            <a:endParaRPr sz="1376"/>
          </a:p>
        </p:txBody>
      </p:sp>
      <p:sp>
        <p:nvSpPr>
          <p:cNvPr id="451" name="Google Shape;451;p12"/>
          <p:cNvSpPr txBox="1"/>
          <p:nvPr/>
        </p:nvSpPr>
        <p:spPr>
          <a:xfrm>
            <a:off x="7428978" y="5719401"/>
            <a:ext cx="23040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4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Coordinación metodológica Scrum, diseño de arquitectura de datos y desarrollo del módulo backend API.</a:t>
            </a:r>
            <a:endParaRPr sz="1376"/>
          </a:p>
        </p:txBody>
      </p:sp>
      <p:pic>
        <p:nvPicPr>
          <p:cNvPr descr="image.png" id="452" name="Google Shape;45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74402" y="4096569"/>
            <a:ext cx="551893" cy="55189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2"/>
          <p:cNvSpPr txBox="1"/>
          <p:nvPr/>
        </p:nvSpPr>
        <p:spPr>
          <a:xfrm>
            <a:off x="2256373" y="4786435"/>
            <a:ext cx="11877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Benjamín Camacho</a:t>
            </a:r>
            <a:endParaRPr sz="1376"/>
          </a:p>
        </p:txBody>
      </p:sp>
      <p:sp>
        <p:nvSpPr>
          <p:cNvPr id="454" name="Google Shape;454;p12"/>
          <p:cNvSpPr txBox="1"/>
          <p:nvPr/>
        </p:nvSpPr>
        <p:spPr>
          <a:xfrm>
            <a:off x="1659874" y="5514328"/>
            <a:ext cx="23040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4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Coordinación con el cliente. </a:t>
            </a:r>
            <a:r>
              <a:rPr b="0" i="0" lang="en-US" sz="1014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aplicación móvil en Flutter, integración de notificaciones push e interfaz gráfica de usuario.</a:t>
            </a:r>
            <a:endParaRPr sz="1376"/>
          </a:p>
        </p:txBody>
      </p:sp>
      <p:pic>
        <p:nvPicPr>
          <p:cNvPr descr="image.png" id="455" name="Google Shape;45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0477" y="4096569"/>
            <a:ext cx="551893" cy="55189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2"/>
          <p:cNvSpPr txBox="1"/>
          <p:nvPr/>
        </p:nvSpPr>
        <p:spPr>
          <a:xfrm>
            <a:off x="5229210" y="4786435"/>
            <a:ext cx="934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Héctor Romero</a:t>
            </a:r>
            <a:endParaRPr sz="1376"/>
          </a:p>
        </p:txBody>
      </p:sp>
      <p:sp>
        <p:nvSpPr>
          <p:cNvPr id="457" name="Google Shape;457;p12"/>
          <p:cNvSpPr txBox="1"/>
          <p:nvPr/>
        </p:nvSpPr>
        <p:spPr>
          <a:xfrm>
            <a:off x="4544344" y="5719401"/>
            <a:ext cx="23040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4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del agente de IA por comandos de voz, motor de web scraping e integración de backend.</a:t>
            </a:r>
            <a:endParaRPr sz="1376"/>
          </a:p>
        </p:txBody>
      </p:sp>
      <p:pic>
        <p:nvPicPr>
          <p:cNvPr descr="image.png" id="458" name="Google Shape;458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2977" y="4262137"/>
            <a:ext cx="275946" cy="220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12376" y="4262137"/>
            <a:ext cx="275946" cy="220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6045" y="4262137"/>
            <a:ext cx="220757" cy="220757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2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Estructura de roles del proyecto</a:t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7665381" y="5307600"/>
            <a:ext cx="1831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225" lIns="66225" spcFirstLastPara="1" rIns="66225" wrap="square" tIns="6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Scrum Master / dev</a:t>
            </a:r>
            <a:endParaRPr b="1" sz="123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983768" y="5267512"/>
            <a:ext cx="1798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225" lIns="66225" spcFirstLastPara="1" rIns="66225" wrap="square" tIns="662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6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Product Owner</a:t>
            </a:r>
            <a:r>
              <a:rPr b="1" lang="en-US" sz="1086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/ dev</a:t>
            </a:r>
            <a:endParaRPr b="1" sz="1086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4610071" y="5308651"/>
            <a:ext cx="21729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225" lIns="66225" spcFirstLastPara="1" rIns="66225" wrap="square" tIns="66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6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Desarrollador Principal</a:t>
            </a:r>
            <a:endParaRPr b="1" sz="1086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image.png" id="466" name="Google Shape;4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9600" y="953950"/>
            <a:ext cx="8352100" cy="282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0402" y="1112619"/>
            <a:ext cx="551893" cy="55189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2"/>
          <p:cNvSpPr txBox="1"/>
          <p:nvPr/>
        </p:nvSpPr>
        <p:spPr>
          <a:xfrm>
            <a:off x="3986074" y="1802475"/>
            <a:ext cx="344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Leonardo Abercio Cerna Báez</a:t>
            </a:r>
            <a:endParaRPr sz="1376"/>
          </a:p>
        </p:txBody>
      </p:sp>
      <p:sp>
        <p:nvSpPr>
          <p:cNvPr id="469" name="Google Shape;469;p12"/>
          <p:cNvSpPr txBox="1"/>
          <p:nvPr/>
        </p:nvSpPr>
        <p:spPr>
          <a:xfrm>
            <a:off x="4816243" y="2146562"/>
            <a:ext cx="1798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225" lIns="66225" spcFirstLastPara="1" rIns="66225" wrap="square" tIns="66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6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Stakeholder</a:t>
            </a:r>
            <a:endParaRPr b="1" sz="1086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4544344" y="2568689"/>
            <a:ext cx="23040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4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Dueño y Fundador de Frenos Cerna , y cliente del proyecto.</a:t>
            </a:r>
            <a:endParaRPr sz="1676"/>
          </a:p>
        </p:txBody>
      </p:sp>
      <p:pic>
        <p:nvPicPr>
          <p:cNvPr descr="image.png" id="471" name="Google Shape;471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85976" y="1202914"/>
            <a:ext cx="220750" cy="33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6" name="Google Shape;4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975" y="1794578"/>
            <a:ext cx="554830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13"/>
          <p:cNvPicPr preferRelativeResize="0"/>
          <p:nvPr/>
        </p:nvPicPr>
        <p:blipFill rotWithShape="1">
          <a:blip r:embed="rId4">
            <a:alphaModFix/>
          </a:blip>
          <a:srcRect b="-20540" l="0" r="0" t="0"/>
          <a:stretch/>
        </p:blipFill>
        <p:spPr>
          <a:xfrm flipH="1" rot="10800000">
            <a:off x="6149175" y="1561175"/>
            <a:ext cx="5548300" cy="152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975" y="3484350"/>
            <a:ext cx="554830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9150" y="3484350"/>
            <a:ext cx="5548325" cy="12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482" name="Google Shape;482;p13"/>
          <p:cNvSpPr txBox="1"/>
          <p:nvPr/>
        </p:nvSpPr>
        <p:spPr>
          <a:xfrm>
            <a:off x="11029950" y="65436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13 DE 18</a:t>
            </a:r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549250" y="2121600"/>
            <a:ext cx="53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 Backlog</a:t>
            </a:r>
            <a:endParaRPr sz="2000"/>
          </a:p>
        </p:txBody>
      </p:sp>
      <p:sp>
        <p:nvSpPr>
          <p:cNvPr id="484" name="Google Shape;484;p13"/>
          <p:cNvSpPr txBox="1"/>
          <p:nvPr/>
        </p:nvSpPr>
        <p:spPr>
          <a:xfrm>
            <a:off x="677050" y="2514713"/>
            <a:ext cx="511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Consolidado de historias de usuario priorizadas con criterios de aceptación en Azure DevOps/Jira.</a:t>
            </a:r>
            <a:endParaRPr sz="2000"/>
          </a:p>
        </p:txBody>
      </p:sp>
      <p:sp>
        <p:nvSpPr>
          <p:cNvPr id="485" name="Google Shape;485;p13"/>
          <p:cNvSpPr txBox="1"/>
          <p:nvPr/>
        </p:nvSpPr>
        <p:spPr>
          <a:xfrm>
            <a:off x="6240424" y="2075063"/>
            <a:ext cx="53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 de Pruebas</a:t>
            </a:r>
            <a:endParaRPr sz="2000"/>
          </a:p>
        </p:txBody>
      </p:sp>
      <p:sp>
        <p:nvSpPr>
          <p:cNvPr id="486" name="Google Shape;486;p13"/>
          <p:cNvSpPr txBox="1"/>
          <p:nvPr/>
        </p:nvSpPr>
        <p:spPr>
          <a:xfrm>
            <a:off x="6368237" y="2416875"/>
            <a:ext cx="511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Matriz de pruebas unitarias, de integración, rendimiento y pruebas con usuarios finales.</a:t>
            </a:r>
            <a:endParaRPr sz="2000"/>
          </a:p>
        </p:txBody>
      </p:sp>
      <p:sp>
        <p:nvSpPr>
          <p:cNvPr id="487" name="Google Shape;487;p13"/>
          <p:cNvSpPr txBox="1"/>
          <p:nvPr/>
        </p:nvSpPr>
        <p:spPr>
          <a:xfrm>
            <a:off x="549250" y="3722475"/>
            <a:ext cx="53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Documentación Técnica</a:t>
            </a:r>
            <a:endParaRPr sz="2000"/>
          </a:p>
        </p:txBody>
      </p:sp>
      <p:sp>
        <p:nvSpPr>
          <p:cNvPr id="488" name="Google Shape;488;p13"/>
          <p:cNvSpPr txBox="1"/>
          <p:nvPr/>
        </p:nvSpPr>
        <p:spPr>
          <a:xfrm>
            <a:off x="677050" y="4088575"/>
            <a:ext cx="511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Manuales de usuario, especificación de API, guía de despliegue y arquitectura del sistema.</a:t>
            </a:r>
            <a:endParaRPr sz="2000"/>
          </a:p>
        </p:txBody>
      </p:sp>
      <p:sp>
        <p:nvSpPr>
          <p:cNvPr id="489" name="Google Shape;489;p13"/>
          <p:cNvSpPr txBox="1"/>
          <p:nvPr/>
        </p:nvSpPr>
        <p:spPr>
          <a:xfrm>
            <a:off x="6240425" y="3701700"/>
            <a:ext cx="523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 Funcional (MVP)</a:t>
            </a:r>
            <a:endParaRPr sz="2000"/>
          </a:p>
        </p:txBody>
      </p:sp>
      <p:sp>
        <p:nvSpPr>
          <p:cNvPr id="490" name="Google Shape;490;p13"/>
          <p:cNvSpPr txBox="1"/>
          <p:nvPr/>
        </p:nvSpPr>
        <p:spPr>
          <a:xfrm>
            <a:off x="6368237" y="3998700"/>
            <a:ext cx="511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Entregable operativo integrado en ambiente de pruebas/producción listo para uso en taller.</a:t>
            </a:r>
            <a:endParaRPr sz="2000"/>
          </a:p>
        </p:txBody>
      </p:sp>
      <p:sp>
        <p:nvSpPr>
          <p:cNvPr id="491" name="Google Shape;491;p13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Evidencias del Proyecto</a:t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7" name="Google Shape;4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694" y="1068975"/>
            <a:ext cx="4517963" cy="1802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3448" y="1068975"/>
            <a:ext cx="4813108" cy="1802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4291" y="3043739"/>
            <a:ext cx="4813109" cy="1802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4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11029950" y="65436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14 DE 18</a:t>
            </a:r>
            <a:endParaRPr/>
          </a:p>
        </p:txBody>
      </p:sp>
      <p:pic>
        <p:nvPicPr>
          <p:cNvPr descr="image.png" id="503" name="Google Shape;5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8149" y="1253885"/>
            <a:ext cx="523132" cy="353741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 txBox="1"/>
          <p:nvPr/>
        </p:nvSpPr>
        <p:spPr>
          <a:xfrm>
            <a:off x="1588149" y="1728220"/>
            <a:ext cx="4169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Tablero Kanban</a:t>
            </a:r>
            <a:endParaRPr sz="1688"/>
          </a:p>
        </p:txBody>
      </p:sp>
      <p:sp>
        <p:nvSpPr>
          <p:cNvPr id="505" name="Google Shape;505;p14"/>
          <p:cNvSpPr txBox="1"/>
          <p:nvPr/>
        </p:nvSpPr>
        <p:spPr>
          <a:xfrm>
            <a:off x="1588149" y="1993526"/>
            <a:ext cx="39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6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Estado visual de tareas (To Do, In Progress, Done) para cada Sprint de desarrollo.</a:t>
            </a:r>
            <a:endParaRPr sz="1688"/>
          </a:p>
        </p:txBody>
      </p:sp>
      <p:pic>
        <p:nvPicPr>
          <p:cNvPr descr="image.png" id="506" name="Google Shape;5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4768" y="1253885"/>
            <a:ext cx="557307" cy="35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4"/>
          <p:cNvSpPr txBox="1"/>
          <p:nvPr/>
        </p:nvSpPr>
        <p:spPr>
          <a:xfrm>
            <a:off x="6284768" y="1728218"/>
            <a:ext cx="4442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Burndown Charts</a:t>
            </a:r>
            <a:endParaRPr sz="1688"/>
          </a:p>
        </p:txBody>
      </p:sp>
      <p:sp>
        <p:nvSpPr>
          <p:cNvPr id="508" name="Google Shape;508;p14"/>
          <p:cNvSpPr txBox="1"/>
          <p:nvPr/>
        </p:nvSpPr>
        <p:spPr>
          <a:xfrm>
            <a:off x="6284768" y="1993523"/>
            <a:ext cx="423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6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gráfico de velocidad de trabajo y horas consumidas frente a la estimación.</a:t>
            </a:r>
            <a:endParaRPr sz="1688"/>
          </a:p>
        </p:txBody>
      </p:sp>
      <p:pic>
        <p:nvPicPr>
          <p:cNvPr descr="image.png" id="509" name="Google Shape;5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55611" y="3228649"/>
            <a:ext cx="557307" cy="35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4"/>
          <p:cNvSpPr txBox="1"/>
          <p:nvPr/>
        </p:nvSpPr>
        <p:spPr>
          <a:xfrm>
            <a:off x="6355611" y="3702982"/>
            <a:ext cx="4442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Actas de Cierre</a:t>
            </a:r>
            <a:endParaRPr sz="1688"/>
          </a:p>
        </p:txBody>
      </p:sp>
      <p:sp>
        <p:nvSpPr>
          <p:cNvPr id="511" name="Google Shape;511;p14"/>
          <p:cNvSpPr txBox="1"/>
          <p:nvPr/>
        </p:nvSpPr>
        <p:spPr>
          <a:xfrm>
            <a:off x="6355611" y="3968287"/>
            <a:ext cx="423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6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Registros de reuniones Daily, feedbacks de Sprint Retrospective.</a:t>
            </a:r>
            <a:endParaRPr sz="1688"/>
          </a:p>
        </p:txBody>
      </p:sp>
      <p:pic>
        <p:nvPicPr>
          <p:cNvPr descr="image.png" id="512" name="Google Shape;5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8762" y="1335500"/>
            <a:ext cx="28172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6760" y="1350359"/>
            <a:ext cx="253321" cy="160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20270" y="3339388"/>
            <a:ext cx="227989" cy="16079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Evidencias por Sprint &amp; Seguimiento</a:t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7" name="Google Shape;5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600" y="3043776"/>
            <a:ext cx="4517963" cy="1802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8056" y="3228686"/>
            <a:ext cx="523132" cy="353741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4"/>
          <p:cNvSpPr txBox="1"/>
          <p:nvPr/>
        </p:nvSpPr>
        <p:spPr>
          <a:xfrm>
            <a:off x="1588056" y="3703021"/>
            <a:ext cx="4169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Impediment log</a:t>
            </a:r>
            <a:endParaRPr sz="1688"/>
          </a:p>
        </p:txBody>
      </p:sp>
      <p:sp>
        <p:nvSpPr>
          <p:cNvPr id="520" name="Google Shape;520;p14"/>
          <p:cNvSpPr txBox="1"/>
          <p:nvPr/>
        </p:nvSpPr>
        <p:spPr>
          <a:xfrm>
            <a:off x="1588056" y="3968327"/>
            <a:ext cx="39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6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de problemas que pueden surgir durante los Sprints.</a:t>
            </a:r>
            <a:endParaRPr sz="1688"/>
          </a:p>
        </p:txBody>
      </p:sp>
      <p:pic>
        <p:nvPicPr>
          <p:cNvPr descr="image.png" id="521" name="Google Shape;52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08851" y="3324562"/>
            <a:ext cx="28172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7441" y="4923564"/>
            <a:ext cx="4813109" cy="1802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78761" y="5108474"/>
            <a:ext cx="353740" cy="35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4"/>
          <p:cNvSpPr txBox="1"/>
          <p:nvPr/>
        </p:nvSpPr>
        <p:spPr>
          <a:xfrm>
            <a:off x="3578761" y="5582807"/>
            <a:ext cx="4442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Review</a:t>
            </a:r>
            <a:endParaRPr sz="1688"/>
          </a:p>
        </p:txBody>
      </p:sp>
      <p:sp>
        <p:nvSpPr>
          <p:cNvPr id="525" name="Google Shape;525;p14"/>
          <p:cNvSpPr txBox="1"/>
          <p:nvPr/>
        </p:nvSpPr>
        <p:spPr>
          <a:xfrm>
            <a:off x="3578761" y="5848112"/>
            <a:ext cx="423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6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equipo muestra el trabajo completado y recibe comentarios de los interesados, al final de cada Sprint.</a:t>
            </a:r>
            <a:endParaRPr sz="1688"/>
          </a:p>
        </p:txBody>
      </p:sp>
      <p:pic>
        <p:nvPicPr>
          <p:cNvPr descr="image.png" id="526" name="Google Shape;52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67800" y="5185713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375" y="2191625"/>
            <a:ext cx="5548300" cy="135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550" y="2191625"/>
            <a:ext cx="5548300" cy="135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375" y="3689850"/>
            <a:ext cx="5548300" cy="123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2550" y="3689850"/>
            <a:ext cx="5548300" cy="123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6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537" name="Google Shape;537;p16"/>
          <p:cNvSpPr txBox="1"/>
          <p:nvPr/>
        </p:nvSpPr>
        <p:spPr>
          <a:xfrm>
            <a:off x="11029950" y="65436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16 DE 18</a:t>
            </a:r>
            <a:endParaRPr/>
          </a:p>
        </p:txBody>
      </p:sp>
      <p:sp>
        <p:nvSpPr>
          <p:cNvPr id="538" name="Google Shape;538;p16"/>
          <p:cNvSpPr txBox="1"/>
          <p:nvPr/>
        </p:nvSpPr>
        <p:spPr>
          <a:xfrm>
            <a:off x="573763" y="2300238"/>
            <a:ext cx="5505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0: Levantamiento &amp; Base</a:t>
            </a:r>
            <a:endParaRPr sz="1900"/>
          </a:p>
        </p:txBody>
      </p:sp>
      <p:sp>
        <p:nvSpPr>
          <p:cNvPr id="539" name="Google Shape;539;p16"/>
          <p:cNvSpPr txBox="1"/>
          <p:nvPr/>
        </p:nvSpPr>
        <p:spPr>
          <a:xfrm>
            <a:off x="573763" y="2576463"/>
            <a:ext cx="52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b="0" i="0" lang="en-US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iseño de base de datos PostgreSQL, configuración de repositorios Git y entornos.</a:t>
            </a:r>
            <a:endParaRPr sz="1900"/>
          </a:p>
        </p:txBody>
      </p:sp>
      <p:sp>
        <p:nvSpPr>
          <p:cNvPr id="540" name="Google Shape;540;p16"/>
          <p:cNvSpPr txBox="1"/>
          <p:nvPr/>
        </p:nvSpPr>
        <p:spPr>
          <a:xfrm>
            <a:off x="6264949" y="2300238"/>
            <a:ext cx="5505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1: Módulo Troncal Inventario</a:t>
            </a:r>
            <a:endParaRPr sz="1900"/>
          </a:p>
        </p:txBody>
      </p:sp>
      <p:sp>
        <p:nvSpPr>
          <p:cNvPr id="541" name="Google Shape;541;p16"/>
          <p:cNvSpPr txBox="1"/>
          <p:nvPr/>
        </p:nvSpPr>
        <p:spPr>
          <a:xfrm>
            <a:off x="6264949" y="2576463"/>
            <a:ext cx="524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API REST backend, CRUD completo de productos, control de stock y desarrollo inicial de app de escritorio</a:t>
            </a:r>
            <a:r>
              <a:rPr lang="en-US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l</a:t>
            </a:r>
            <a:r>
              <a:rPr lang="en-US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evantamiento físico de ~1.500 productos.</a:t>
            </a:r>
            <a:endParaRPr sz="1900"/>
          </a:p>
        </p:txBody>
      </p:sp>
      <p:sp>
        <p:nvSpPr>
          <p:cNvPr id="542" name="Google Shape;542;p16"/>
          <p:cNvSpPr txBox="1"/>
          <p:nvPr/>
        </p:nvSpPr>
        <p:spPr>
          <a:xfrm>
            <a:off x="573763" y="3842250"/>
            <a:ext cx="5505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2: Scraping &amp; App Móvil</a:t>
            </a:r>
            <a:endParaRPr sz="1900"/>
          </a:p>
        </p:txBody>
      </p:sp>
      <p:sp>
        <p:nvSpPr>
          <p:cNvPr id="543" name="Google Shape;543;p16"/>
          <p:cNvSpPr txBox="1"/>
          <p:nvPr/>
        </p:nvSpPr>
        <p:spPr>
          <a:xfrm>
            <a:off x="573763" y="4118475"/>
            <a:ext cx="52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automatizado de Web Scraping de precios, interfaz móvil en Flutter y sistema de notificaciones push de ofertas.</a:t>
            </a:r>
            <a:endParaRPr sz="1900"/>
          </a:p>
        </p:txBody>
      </p:sp>
      <p:sp>
        <p:nvSpPr>
          <p:cNvPr id="544" name="Google Shape;544;p16"/>
          <p:cNvSpPr txBox="1"/>
          <p:nvPr/>
        </p:nvSpPr>
        <p:spPr>
          <a:xfrm>
            <a:off x="6264949" y="3842250"/>
            <a:ext cx="5505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3 &amp; 4: IA Voz &amp; Cierre</a:t>
            </a:r>
            <a:endParaRPr sz="1900"/>
          </a:p>
        </p:txBody>
      </p:sp>
      <p:sp>
        <p:nvSpPr>
          <p:cNvPr id="545" name="Google Shape;545;p16"/>
          <p:cNvSpPr txBox="1"/>
          <p:nvPr/>
        </p:nvSpPr>
        <p:spPr>
          <a:xfrm>
            <a:off x="6264949" y="4118475"/>
            <a:ext cx="52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del agente de IA por voz, módulo de hoja de vida vehicular, pruebas integrales de seguridad y entrega final.</a:t>
            </a:r>
            <a:endParaRPr sz="1900"/>
          </a:p>
        </p:txBody>
      </p:sp>
      <p:sp>
        <p:nvSpPr>
          <p:cNvPr id="546" name="Google Shape;546;p16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Definición y Planificación de Sprints</a:t>
            </a: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2" name="Google Shape;5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81100"/>
            <a:ext cx="112395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7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556" name="Google Shape;556;p17"/>
          <p:cNvSpPr txBox="1"/>
          <p:nvPr/>
        </p:nvSpPr>
        <p:spPr>
          <a:xfrm>
            <a:off x="11039475" y="6543675"/>
            <a:ext cx="6762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17 DE 18</a:t>
            </a:r>
            <a:endParaRPr/>
          </a:p>
        </p:txBody>
      </p:sp>
      <p:pic>
        <p:nvPicPr>
          <p:cNvPr descr="image.png" id="557" name="Google Shape;5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437" y="2709862"/>
            <a:ext cx="2905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304323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7"/>
          <p:cNvSpPr txBox="1"/>
          <p:nvPr/>
        </p:nvSpPr>
        <p:spPr>
          <a:xfrm>
            <a:off x="3065621" y="3671887"/>
            <a:ext cx="606075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[ESPACIO RESERVADO PARA: GRÁFICO O TABLA DE CARTA GANTT]</a:t>
            </a:r>
            <a:endParaRPr/>
          </a:p>
        </p:txBody>
      </p:sp>
      <p:sp>
        <p:nvSpPr>
          <p:cNvPr id="560" name="Google Shape;560;p17"/>
          <p:cNvSpPr txBox="1"/>
          <p:nvPr/>
        </p:nvSpPr>
        <p:spPr>
          <a:xfrm>
            <a:off x="3000375" y="4033837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 hoja está lista y estructurada para insertar la imagen o tabla Excel de la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Carta Gantt del Proyecto APT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(con la planificación temporal dividida en Fase 1, Fase 2 y Fase 3 por semanas/Sprints).</a:t>
            </a:r>
            <a:endParaRPr/>
          </a:p>
        </p:txBody>
      </p:sp>
      <p:pic>
        <p:nvPicPr>
          <p:cNvPr descr="image.png" id="561" name="Google Shape;5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3225" y="4643437"/>
            <a:ext cx="17907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76800" y="4643437"/>
            <a:ext cx="2133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53275" y="4643437"/>
            <a:ext cx="2095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7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Cronograma del Proyecto: Carta Gantt</a:t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6" name="Google Shape;566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250" y="1025600"/>
            <a:ext cx="11239499" cy="5435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1" name="Google Shape;5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25" y="1659700"/>
            <a:ext cx="5476875" cy="391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50" y="1659688"/>
            <a:ext cx="5476875" cy="127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6063" y="3056813"/>
            <a:ext cx="5476875" cy="127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377593"/>
            <a:ext cx="5476875" cy="119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5" name="Google Shape;5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438900"/>
            <a:ext cx="11239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8"/>
          <p:cNvSpPr txBox="1"/>
          <p:nvPr/>
        </p:nvSpPr>
        <p:spPr>
          <a:xfrm>
            <a:off x="476250" y="6543675"/>
            <a:ext cx="21050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INVENTARIO MECÁNICO</a:t>
            </a:r>
            <a:endParaRPr/>
          </a:p>
        </p:txBody>
      </p:sp>
      <p:sp>
        <p:nvSpPr>
          <p:cNvPr id="577" name="Google Shape;577;p18"/>
          <p:cNvSpPr txBox="1"/>
          <p:nvPr/>
        </p:nvSpPr>
        <p:spPr>
          <a:xfrm>
            <a:off x="11029950" y="65436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18 DE 18</a:t>
            </a:r>
            <a:endParaRPr/>
          </a:p>
        </p:txBody>
      </p:sp>
      <p:sp>
        <p:nvSpPr>
          <p:cNvPr id="578" name="Google Shape;578;p18"/>
          <p:cNvSpPr txBox="1"/>
          <p:nvPr/>
        </p:nvSpPr>
        <p:spPr>
          <a:xfrm>
            <a:off x="887625" y="2070950"/>
            <a:ext cx="53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 del Proyecto</a:t>
            </a:r>
            <a:endParaRPr sz="1900"/>
          </a:p>
        </p:txBody>
      </p:sp>
      <p:sp>
        <p:nvSpPr>
          <p:cNvPr id="579" name="Google Shape;579;p18"/>
          <p:cNvSpPr txBox="1"/>
          <p:nvPr/>
        </p:nvSpPr>
        <p:spPr>
          <a:xfrm>
            <a:off x="666750" y="2669288"/>
            <a:ext cx="50958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implementación de este sistema multidispositivo transformará sustancialmente la operación del taller: eliminará desplazamientos innecesarios a bodega, automatizará la actualización de precios mediante scraping y dotará a los mecánicos de interacción por voz manos libres.</a:t>
            </a:r>
            <a:endParaRPr sz="1900"/>
          </a:p>
        </p:txBody>
      </p:sp>
      <p:sp>
        <p:nvSpPr>
          <p:cNvPr id="580" name="Google Shape;580;p18"/>
          <p:cNvSpPr txBox="1"/>
          <p:nvPr/>
        </p:nvSpPr>
        <p:spPr>
          <a:xfrm>
            <a:off x="6414975" y="2070950"/>
            <a:ext cx="5124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"Creo que este proyecto me permitirá aprender muchísimo al respecto de cómo trabajar en un entorno laboral real, y a su vez permitirá modernizar un negocio existente."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81" name="Google Shape;581;p18"/>
          <p:cNvSpPr txBox="1"/>
          <p:nvPr/>
        </p:nvSpPr>
        <p:spPr>
          <a:xfrm>
            <a:off x="6400613" y="1784450"/>
            <a:ext cx="5124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Anette Villalón</a:t>
            </a:r>
            <a:endParaRPr sz="1900"/>
          </a:p>
        </p:txBody>
      </p:sp>
      <p:sp>
        <p:nvSpPr>
          <p:cNvPr id="582" name="Google Shape;582;p18"/>
          <p:cNvSpPr txBox="1"/>
          <p:nvPr/>
        </p:nvSpPr>
        <p:spPr>
          <a:xfrm>
            <a:off x="6414975" y="3358913"/>
            <a:ext cx="5124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"Desarrollar una </a:t>
            </a:r>
            <a:r>
              <a:rPr i="1" lang="en-US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 multidispositivo</a:t>
            </a:r>
            <a:r>
              <a:rPr i="1" lang="en-US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1" lang="en-US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accesible para el </a:t>
            </a:r>
            <a:r>
              <a:rPr i="1" lang="en-US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</a:t>
            </a:r>
            <a:r>
              <a:rPr b="0" i="1" lang="en-US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permite optimizar los tiempos de atención y brindar una mejor experiencia al cliente."</a:t>
            </a:r>
            <a:endParaRPr sz="1900"/>
          </a:p>
        </p:txBody>
      </p:sp>
      <p:sp>
        <p:nvSpPr>
          <p:cNvPr id="583" name="Google Shape;583;p18"/>
          <p:cNvSpPr txBox="1"/>
          <p:nvPr/>
        </p:nvSpPr>
        <p:spPr>
          <a:xfrm>
            <a:off x="6414988" y="3175100"/>
            <a:ext cx="5124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Benjamín Camacho</a:t>
            </a:r>
            <a:endParaRPr sz="1900"/>
          </a:p>
        </p:txBody>
      </p:sp>
      <p:sp>
        <p:nvSpPr>
          <p:cNvPr id="584" name="Google Shape;584;p18"/>
          <p:cNvSpPr txBox="1"/>
          <p:nvPr/>
        </p:nvSpPr>
        <p:spPr>
          <a:xfrm>
            <a:off x="6422188" y="4715225"/>
            <a:ext cx="5124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r>
              <a:rPr i="1" lang="en-US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Esperamos brindar una experiencia ideal a nuestro cliente que logre tanto satisfacer su necesidad cómo otorgarle una experiencia nueva la cual pueda integrar a su rutina.</a:t>
            </a:r>
            <a:r>
              <a:rPr b="0" i="1" lang="en-US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</a:t>
            </a:r>
            <a:endParaRPr sz="1900"/>
          </a:p>
        </p:txBody>
      </p:sp>
      <p:sp>
        <p:nvSpPr>
          <p:cNvPr id="585" name="Google Shape;585;p18"/>
          <p:cNvSpPr txBox="1"/>
          <p:nvPr/>
        </p:nvSpPr>
        <p:spPr>
          <a:xfrm>
            <a:off x="6407825" y="4453913"/>
            <a:ext cx="5124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Héctor Romero</a:t>
            </a:r>
            <a:endParaRPr sz="1900"/>
          </a:p>
        </p:txBody>
      </p:sp>
      <p:pic>
        <p:nvPicPr>
          <p:cNvPr descr="image.png" id="586" name="Google Shape;5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125" y="21296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8"/>
          <p:cNvSpPr txBox="1"/>
          <p:nvPr/>
        </p:nvSpPr>
        <p:spPr>
          <a:xfrm>
            <a:off x="476250" y="428625"/>
            <a:ext cx="117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Conclusiones &amp; Reflexiones del Equipo</a:t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476250" y="9239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